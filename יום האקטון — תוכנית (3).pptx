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יום עד יומיים, בלי תקציב, עם Claude ככלי עבודה מרכזי. 150 עובדים, 24 צוותים מעורבבים. המטרה: לפתור כאבים אמיתיים, למקסם את המוצר ולבנות כוח.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שש מטרות, לכל אחת מדד. הכאבים והמוצר הם הלב; בניין כוח וחיבורים הם מה שנשאר אחרי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העקרונות שחוזרים בהאקטונים מוצלחים בחברות טכנולוגיה. החשוב ביותר: ההכנה וההמשכיות.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החלטה ראשונה: מודל התוכן. החלטה שנייה, בשקף הבא: יום אחד או יומיים.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עם Claude, גם יום אחד מייצר תוצרים אמיתיים. אבל אם אפשר לפנות יומיים — זה עדיף, במיוחד לחומרה וסימולציה.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אם יש רק יום אחד, אותו מבנה עובד — עם משימות שמנוסחות מראש בהיקף של 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דוחס עבודה של ימים לשעות ומאפשר גם לחוקרים ולאנשי חומרה להגיע לאב-טיפוס עובד. לבדוק מראש: שלכל משתתף יש גישה, מה מותר להכניס לפי מדיניות החברה, והאם יש מגבלות שימוש. פתרון שקורא ל-Claude אוטומטית מתוך קוד צריך גישת API נפרדת.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חמישה מסלולים ממוקדים ומסלול פתוח. כל מסלול מקבל פרס משלו, כך שכל תחום בחברה משחק על משהו.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דוגמאות מתוך 25 במסמך. הבנק האמיתי נבנה מסקר כאבים בחברה, ולכל משימה יש "בעל כאב" שזמין לצוות ביום עצמו.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שיטה 3 נותנת גם בעלות וגם איזון, ולא מבזבזת זמן ביום עצמו. השיבוץ לוקח כשעתיים עבודה למארגנים.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ראש צוות לא חייב להיות הבכיר בצוות. בוחרים מקול קורא פתוח ומהמלצות מנהלים.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הסקר והגישות הם הצעדים הקריטיים. Claude חוסך את רוב עבודת המיון והניסוח.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הפתיחה כוללת 20 דקות קיקסטארט Claude: שלוש הדגמות קצרות לפי תפקיד. גמר של 6 צוותים.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יומיים הם הבחירה הטובה לפרויקטי חומרה וסימולציה. הולכים הביתה בערב, אין צורך בלינה או בארוחת ערב.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במקום 24 מצגות רצופות — יותר משעתיים של קהל משועמם — כולם רואים את כולם ביריד, והטובים עולים לבמה.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הפרס האמיתי הוא זמן להמשיך — זה מה שהופך את האירוע למנוע שינוי. גביע מודפס במדפסת התלת-ממד של צוות החומרה, ארוחת צהריים עם המנכ"ל, בחירת המשימה הבאה — כולם בלי עלות.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צוות מארגן של 5 אנשים מספיק: מוביל, תוכן וצוותים, תשתיות ו-Claude, לוגיסטיקה ותקשורת, שיפוט והנחיה.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החלק שהכי הרבה ארגונים מפספסים. בלי זמן מוקדש להמשך, הפרויקטים נשכחים תוך שבועיים.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הרשימה המלאה, כולל דמו שקורס על הבמה ואנשים שנשלפים לעבודה שוטפת, נמצאת במסמך.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החלטות שמתניעות את ציר ארבעת השבועות. אף אחת מהן לא עולה כסף.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2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722"/>
            <a:ext cx="10566400" cy="4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2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722"/>
            <a:ext cx="10566400" cy="4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450"/>
              </a:gs>
              <a:gs pos="60000">
                <a:srgbClr val="2E2280"/>
              </a:gs>
              <a:gs pos="100000">
                <a:srgbClr val="4B3BC4"/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556000"/>
            <a:ext cx="5715000" cy="3302000"/>
          </a:xfrm>
          <a:prstGeom prst="rect">
            <a:avLst/>
          </a:prstGeom>
          <a:gradFill rotWithShape="1">
            <a:gsLst>
              <a:gs pos="0">
                <a:srgbClr val="F06418">
                  <a:alpha val="55000"/>
                </a:srgbClr>
              </a:gs>
              <a:gs pos="60000">
                <a:srgbClr val="F06418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495808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spc="400" kern="0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HACKATHON · 2026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495808" y="126492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9000"/>
              </a:lnSpc>
              <a:buNone/>
            </a:pPr>
            <a:r>
              <a:rPr lang="en-US" sz="9000" b="1" i="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האקטון‬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95808" y="261112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‫מצא את הכאב — בנה את התרופה — הראה שהיא עובדת‬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5808" y="320548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‫תוכנה · סימולציה · אלגוריתמיקה · מחקר · חומרה · עם Claude‬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59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83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583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‫תקציב — Claude כבר קיים‬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083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07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507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‫ימים‬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07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31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431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‫צוותים‬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931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55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355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‫עובדים‬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‫למה אנחנו עושים את זה‬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‫שש מטרות ליום‬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7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‫ייעול תהליכים‬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77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‫אוטומציה וכלים פנימיים — 3 כלים בשימוש אמיתי תוך 30 יום‬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91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‫מקסום המוצר‬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391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‫פיצ'רים ויכולות ללקוח — 5 רעיונות נכנסים לרודמפ‬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05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‫פתרון כאבים אמיתיים‬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05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‫60 כאבים נאספים מראש, 15 לפחות מטופלים ביום‬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7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‫תרבות של יוזמה‬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77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‫מזהים בעיה ופותרים — NPS של 40+ לאירוע‬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1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‫בניין כוח עם Claude‬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391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עובד יוצא עם דרך עבודה עם AI שמתאימה לתפקיד שלו‬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05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‫חיבור בין צוותים‬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205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‫80% מהצוותים מעורבבים מ-3 תחומים ומעלה‬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 עובד בתעשייה‬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‫70% מההצלחה נקבעת לפני היום‬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7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‫נקודות ביקורת בזמן‬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77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‫בדיקת היקף באמצע היום חוסכת אכזבות בסוף.‬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91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‫חסות הנהלה גלויה‬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391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‫המנכ"ל פותח, ההנהלה שופטת, והזוכים מקבלים זמן להמשיך.‬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05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‫הכנה מוקדמת‬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05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‫בעיות, נתונים, הרשאות וסביבות מוכנים — אחרת חצי יום הולך על "אין לי גישה".‬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7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‫תחרות קלה, שיתוף כבד‬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77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‫פרסים בכמה קטגוריות, כדי שיותר צוותים ירגישו שהצליחו.‬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1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‫המשכיות‬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391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‫מסלול מסודר להמשך הוא ההבדל בין "יום כיף" למנוע שינוי.‬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05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‫הדמו הוא המוצר‬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205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צוות מראה משהו שעובד — לא שקפים על רעיון.‬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‫הפורמט — החלטה ראשונה מתוך שתיים‬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‫מאיפה מגיעות המשימות?‬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3397567" cy="4094480"/>
          </a:xfrm>
          <a:prstGeom prst="roundRect">
            <a:avLst>
              <a:gd name="adj" fmla="val 2990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80113" y="2204721"/>
            <a:ext cx="297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80113" y="2875280"/>
            <a:ext cx="2976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‫היברידי מסלולים‬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0113" y="3281680"/>
            <a:ext cx="297625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‫5 מסלולים מבנק הכאבים + Wild Card פתוח. Claude מקצר את ההכנה.‬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5458461"/>
            <a:ext cx="2889568" cy="332740"/>
          </a:xfrm>
          <a:prstGeom prst="roundRect">
            <a:avLst>
              <a:gd name="adj" fmla="val 50000"/>
            </a:avLst>
          </a:prstGeom>
          <a:solidFill>
            <a:srgbClr val="F06418"/>
          </a:solidFill>
          <a:ln/>
        </p:spPr>
        <p:txBody>
          <a:bodyPr wrap="square" lIns="38738" tIns="2072" rIns="38738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‫מומלץ‬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1342" y="1953896"/>
            <a:ext cx="3400284" cy="408813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9995" y="2209236"/>
            <a:ext cx="29762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9995" y="2879796"/>
            <a:ext cx="29762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‫האקטון פתוח‬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9995" y="3286196"/>
            <a:ext cx="297629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אחד מציע רעיון והצוותים נבנים סביבו. אנרגיה גבוהה — אבל כאוטי ב-150 איש.‬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75777" y="1953896"/>
            <a:ext cx="3400249" cy="408813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4430" y="2209236"/>
            <a:ext cx="297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44430" y="2879796"/>
            <a:ext cx="2976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‫בנק כאבים‬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44430" y="3286196"/>
            <a:ext cx="2976255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‫משימות מוגדרות מראש ע"י "בעלי כאב". תוצאות מוחשיות, קל לשפוט — אבל פחות חופש.‬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‫הפורמט — החלטה שנייה‬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39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אחד או יומיים?‬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0566400" cy="2895177"/>
          </a:xfrm>
          <a:custGeom>
            <a:avLst/>
            <a:gdLst/>
            <a:ahLst/>
            <a:cxnLst/>
            <a:rect l="l" t="t" r="r" b="b"/>
            <a:pathLst>
              <a:path w="10566400" h="2895177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818977"/>
                </a:lnTo>
                <a:arcTo hR="76200" wR="76200" stAng="0" swAng="5400000"/>
                <a:lnTo>
                  <a:pt x="76200" y="2895177"/>
                </a:lnTo>
                <a:arcTo hR="76200" wR="76200" stAng="5400000" swAng="5400000"/>
                <a:lnTo>
                  <a:pt x="0" y="2818977"/>
                </a:lnTo>
                <a:arcTo hR="69850" wR="76200" stAng="10800000" swAng="-5400000"/>
                <a:lnTo>
                  <a:pt x="10490200" y="2888827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1"/>
            <a:ext cx="10566400" cy="2895177"/>
          </a:xfrm>
          <a:custGeom>
            <a:avLst/>
            <a:gdLst/>
            <a:ahLst/>
            <a:cxnLst/>
            <a:rect l="l" t="t" r="r" b="b"/>
            <a:pathLst>
              <a:path w="10566400" h="2895177">
                <a:moveTo>
                  <a:pt x="76200" y="2895177"/>
                </a:moveTo>
                <a:lnTo>
                  <a:pt x="76200" y="2895177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818977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0"/>
          <a:ext cx="10550596" cy="2879372"/>
        </p:xfrm>
        <a:graphic>
          <a:graphicData uri="http://schemas.openxmlformats.org/drawingml/2006/table">
            <a:tbl>
              <a:tblPr/>
              <a:tblGrid>
                <a:gridCol w="3376191"/>
                <a:gridCol w="3376191"/>
                <a:gridCol w="3798214"/>
              </a:tblGrid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‫יומיים — מומלץ‬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‫יום אחד‬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‫קריטריון‬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‫כ-10.5 שעות‬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‫כ-5 שעות‬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‫זמן פיתוח נטו‬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‫מצוינת‬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‫התאמה לחומרה וסימולציה‬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‫MVP שאפשר לנסות‬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‫אב-טיפוס‬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‫עומק התוצרים‬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‫נמוכה‬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‫השפעה על העבודה השוטפת‬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 — הולכים הביתה בערב‬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‫נמוכה‬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‫עייפות‬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‫אפשר לפנות יומיים‬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‫אי אפשר לעצור יותר מיום‬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‫מתי לבחור‬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6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20396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‫ההמלצה‬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262890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‫היברידי מבוסס מסלולים, ביומיים אם אפשר‬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95808" y="44272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‫בנק כאבים + Wild Card · 24 צוותים מעורבבים · Claude אצל כולם · אפס תקציב‬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‫Claude כמכפיל כוח‬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‫כולם בונים — לא רק המפתחים‬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12114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‫מחקר‬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2114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‫סיכום ספרות, ממחברת לקוד מודולרי, ניתוח תוצאות‬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733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8" name="Text 6"/>
          <p:cNvSpPr/>
          <p:nvPr/>
        </p:nvSpPr>
        <p:spPr>
          <a:xfrm>
            <a:off x="4485047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‫סימולציה ואלגוריתמיקה‬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5047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‫צווארי בקבוק, סקריפטי benchmark, האצת קוד‬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67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8057981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‫תוכנה‬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57981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‫Claude Code: שלד פרויקט, refactor, בדיקות, דיבאג‬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F06418"/>
          </a:solidFill>
          <a:ln/>
        </p:spPr>
      </p:sp>
      <p:sp>
        <p:nvSpPr>
          <p:cNvPr id="14" name="Text 12"/>
          <p:cNvSpPr/>
          <p:nvPr/>
        </p:nvSpPr>
        <p:spPr>
          <a:xfrm>
            <a:off x="912114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‫הכנה‬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2114" y="3700782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‫"Claude ב-60 דקות" לכל החברה + אלוף Claude בכל צוות‬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5733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5047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‫מוצר ולא-מפתחים‬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5733" y="3700782"/>
            <a:ext cx="32300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‫אב-טיפוס של ממשק, דרישות, תרחישים, דמו‬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8667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20" name="Text 18"/>
          <p:cNvSpPr/>
          <p:nvPr/>
        </p:nvSpPr>
        <p:spPr>
          <a:xfrm>
            <a:off x="8057981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‫חומרה‬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57981" y="3700782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‫פענוח לוגים ופרוטוקולים, סקריפטי בדיקה, datasheets‬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808" y="463296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‫כללים: לפי מדיניות אבטחת המידע · לוודא גישה לכולם · מנוי הוא לא API · code review אנושי לפני מיזוג‬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‫המסלולים‬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תחום בחברה מוצא את עצמו‬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50" y="2249878"/>
            <a:ext cx="169269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Everywhere</a:t>
            </a:r>
            <a:endParaRPr lang="en-US" sz="1800" dirty="0"/>
          </a:p>
        </p:txBody>
      </p:sp>
      <p:pic>
        <p:nvPicPr>
          <p:cNvPr id="6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13448" y="2234636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77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‫דרכי עבודה חדשות עם Claude בכל תחום — מתכונים, כלים, אוטומציה‬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73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0550" y="2249878"/>
            <a:ext cx="16921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Boost</a:t>
            </a:r>
            <a:endParaRPr lang="en-US" sz="1800" dirty="0"/>
          </a:p>
        </p:txBody>
      </p:sp>
      <p:pic>
        <p:nvPicPr>
          <p:cNvPr id="10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4319" y="2234636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00550" y="2628336"/>
            <a:ext cx="31641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‫יכולת חדשה, שיפור UX, דמו ללקוח, ביצועים‬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87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81950" y="2249878"/>
            <a:ext cx="139209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Killers</a:t>
            </a:r>
            <a:endParaRPr lang="en-US" sz="1800" dirty="0"/>
          </a:p>
        </p:txBody>
      </p:sp>
      <p:pic>
        <p:nvPicPr>
          <p:cNvPr id="14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75646" y="2234636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05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‫כאבים יומיומיים: build, CI, onboarding, תיעוד, בדיקות ידניות‬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8162" y="3749889"/>
            <a:ext cx="118651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Card</a:t>
            </a:r>
            <a:endParaRPr lang="en-US" sz="1800" dirty="0"/>
          </a:p>
        </p:txBody>
      </p:sp>
      <p:pic>
        <p:nvPicPr>
          <p:cNvPr id="18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36281" y="3734646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77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רעיון מרשים שלא נכנס למסלולים — עד 20% מהצוותים‬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73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400550" y="3749889"/>
            <a:ext cx="16844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Meets SW</a:t>
            </a:r>
            <a:endParaRPr lang="en-US" sz="1800" dirty="0"/>
          </a:p>
        </p:txBody>
      </p:sp>
      <p:pic>
        <p:nvPicPr>
          <p:cNvPr id="22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86593" y="3734646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391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‫בדיקות חומרה, מעבדה, דיבאג, HIL, ניהול ציוד‬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787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981950" y="3749889"/>
            <a:ext cx="13637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&amp; Algo</a:t>
            </a:r>
            <a:endParaRPr lang="en-US" sz="1800" dirty="0"/>
          </a:p>
        </p:txBody>
      </p:sp>
      <p:pic>
        <p:nvPicPr>
          <p:cNvPr id="26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447319" y="3734646"/>
            <a:ext cx="304800" cy="3048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205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‫מהירות, דיוק, ולידציה, השוואת סימולציה למציאות‬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‫בנק משימות — דוגמאות‬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‫כאבים שהופכים למשימות‬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0566400" cy="3237795"/>
          </a:xfrm>
          <a:custGeom>
            <a:avLst/>
            <a:gdLst/>
            <a:ahLst/>
            <a:cxnLst/>
            <a:rect l="l" t="t" r="r" b="b"/>
            <a:pathLst>
              <a:path w="10566400" h="3237795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3161595"/>
                </a:lnTo>
                <a:arcTo hR="76200" wR="76200" stAng="0" swAng="5400000"/>
                <a:lnTo>
                  <a:pt x="76200" y="3237795"/>
                </a:lnTo>
                <a:arcTo hR="76200" wR="76200" stAng="5400000" swAng="5400000"/>
                <a:lnTo>
                  <a:pt x="0" y="3161595"/>
                </a:lnTo>
                <a:arcTo hR="69850" wR="76200" stAng="10800000" swAng="-5400000"/>
                <a:lnTo>
                  <a:pt x="10490200" y="3231445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1"/>
            <a:ext cx="10566400" cy="3237795"/>
          </a:xfrm>
          <a:custGeom>
            <a:avLst/>
            <a:gdLst/>
            <a:ahLst/>
            <a:cxnLst/>
            <a:rect l="l" t="t" r="r" b="b"/>
            <a:pathLst>
              <a:path w="10566400" h="3237795">
                <a:moveTo>
                  <a:pt x="76200" y="3237795"/>
                </a:moveTo>
                <a:lnTo>
                  <a:pt x="76200" y="3237795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3161595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0"/>
          <a:ext cx="10550596" cy="3221990"/>
        </p:xfrm>
        <a:graphic>
          <a:graphicData uri="http://schemas.openxmlformats.org/drawingml/2006/table">
            <a:tbl>
              <a:tblPr/>
              <a:tblGrid>
                <a:gridCol w="1160566"/>
                <a:gridCol w="4642262"/>
                <a:gridCol w="1688095"/>
                <a:gridCol w="3059673"/>
              </a:tblGrid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קושי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‫תוצר מינימלי ליום‬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משימה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‫ניתוח צווארי בקבוק + שינוי שמוכיח שיפור‬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Killers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‫קיצור זמן CI ב-50%‬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‫סקריפט התקנת סביבה + מדריך‬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Killers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‫עובד חדש מפתח ביום הראשון‬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‫מצב הדגמה עם נתונים מדומים‬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‫Demo Mode לפגישות לקוח‬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‫עוזר שעונה מתוך התיעוד, עם מקורות‬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‫"שאל את התיעוד"‬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קשה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‫פרופיילינג + אופטימיזציה על תרחיש אחד‬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&amp; Algo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‫האצת סימולציה פי 10‬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‫כלי השוואה + דוח פערים אוטומטי‬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&amp; Algo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‫סימולציה מול מדידות אמת‬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קשה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‫לוח אמיתי בבדיקה אוטומטית אחת‬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‫Hardware-in-the-Loop בסיסי‬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‫אפליקציה פשוטה להזמנה ומעקב‬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‫הזמנת ציוד ולוחות במעבדה‬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‫חלוקה לצוותים‬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‫24 צוותים, 3 תחומים לפחות בכל אחד‬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254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254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‫שופטים‬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25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8" name="Text 6"/>
          <p:cNvSpPr/>
          <p:nvPr/>
        </p:nvSpPr>
        <p:spPr>
          <a:xfrm>
            <a:off x="36051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051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‫מנטורים ואלופי Claude‬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62848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848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‫אנשים בצוות‬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19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5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45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‫משתתפים בפועל‬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363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‫3 · היברידי — מומלץ‬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0363" y="3799278"/>
            <a:ext cx="309525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‫ראשי צוותים מראש, כל אחד מדרג 3 העדפות, שיבוץ לפי כללי ערבוב‬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8908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3296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‫2 · שוק רעיונות‬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03296" y="3799278"/>
            <a:ext cx="30952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‫בעלות גבוהה, כאוטי ב-150 איש‬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61842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76229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‫1 · שיבוץ ע"י מארגנים‬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76229" y="3799278"/>
            <a:ext cx="30952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‫מאוזן ומהיר, פחות תחושת בעלות‬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808" y="469787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‫כללי ערבוב: 3 תחומים לפחות · עד 2 מאותו צוות קבוע · בכיר וצעיר בכל צוות · אלוף Claude בכל צוות · איש חומרה בפרויקט חומרה · "חבר אחד" לבחירה‬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‫ראשי צוותים‬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‫24 מובילים — הזדמנות לבניין כוח‬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7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‫בסוף ואחרי‬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4719" y="2666436"/>
            <a:ext cx="29731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‫דמו של 4 דקות, טופס הגשה, מסמך "מה הלאה" — ובזכייה, הובלת ההמשך.‬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61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‫ביום עצמו‬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66119" y="2666436"/>
            <a:ext cx="29731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‫הגדרת היקף ריאלי, חלוקת עבודה, ניהול זמן, הסרת חסמים, הבאת מנטורים.‬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5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‫לפני — שבועיים‬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47519" y="2666436"/>
            <a:ext cx="297316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‫פגישה עם בעל הכאב, קנבס בעיה, וידוא גישות וסביבות, היכרות של 30 דקות עם הצוות.‬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491479"/>
            <a:ext cx="10566400" cy="553720"/>
          </a:xfrm>
          <a:prstGeom prst="roundRect">
            <a:avLst>
              <a:gd name="adj" fmla="val 13761"/>
            </a:avLst>
          </a:prstGeom>
          <a:solidFill>
            <a:srgbClr val="FDE7DA"/>
          </a:solidFill>
          <a:ln/>
        </p:spPr>
        <p:txBody>
          <a:bodyPr wrap="square" lIns="0" tIns="130082" rIns="180882" bIns="104682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</a:t>
            </a:r>
            <a:r>
              <a:rPr lang="en-US" sz="1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הכשרה של 60 דקות</a:t>
            </a:r>
            <a:r>
              <a:rPr lang="en-US" sz="14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שבוע–שבועיים לפני: הגדרת MVP, ניהול זמן, דמו, ועבודה עם Claude בצוות. עדיפות למי שעוד לא הוביל.‬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‫ציר ההכנה‬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‫ארבעה שבועות עד היום‬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561167" y="2001521"/>
            <a:ext cx="0" cy="3439160"/>
          </a:xfrm>
          <a:prstGeom prst="line">
            <a:avLst/>
          </a:prstGeom>
          <a:noFill/>
          <a:ln w="25400">
            <a:solidFill>
              <a:srgbClr val="F064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000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‫יומיים‬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89000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‫חזרה גנרלית: מקרן, מחשב במה, טפסים‬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2233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0067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‫שבוע‬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0067" y="2458721"/>
            <a:ext cx="1533031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‫צוותים, סביבות, חבילות הקשר, קנבסים, תדריך שופטים‬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3300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1133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‫10 ימים‬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1133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‫"Claude ב-60 דקות" לכל החברה‬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44367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‫2 שב'‬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‫הרשמה, שיבוץ, הכשרת ראשי צוותים‬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5434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3267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‫3 שב'‬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3267" y="2458721"/>
            <a:ext cx="15330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‫Claude מקבץ כאבים לבנק משימות; בדיקת גישה ל-Claude‬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366501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4334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‫4 שב'‬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94334" y="2458721"/>
            <a:ext cx="15330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‫אישור הנהלה, תאריך, צוות מארגן, שליחת סקר הכאבים‬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808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‫יש רק שבועיים? מקצרים את הסקר ל-5 ימים ומאחדים הרשמה ושיבוץ — אבל לא מוותרים על בדיקת הגישות.‬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‫לוח הזמנים — גרסת יום אחד‬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‫מ-08:45 עד 18:30‬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158452" cy="1270000"/>
          </a:xfrm>
          <a:custGeom>
            <a:avLst/>
            <a:gdLst/>
            <a:ahLst/>
            <a:cxnLst/>
            <a:rect l="l" t="t" r="r" b="b"/>
            <a:pathLst>
              <a:path w="1158452" h="1270000">
                <a:moveTo>
                  <a:pt x="0" y="101600"/>
                </a:moveTo>
                <a:arcTo hR="101600" wR="101600" stAng="10800000" swAng="5400000"/>
                <a:lnTo>
                  <a:pt x="1158452" y="0"/>
                </a:lnTo>
                <a:lnTo>
                  <a:pt x="1158452" y="1270000"/>
                </a:lnTo>
                <a:lnTo>
                  <a:pt x="101600" y="1270000"/>
                </a:lnTo>
                <a:arcTo hR="101600" wR="101600" stAng="5400000" swAng="5400000"/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2052321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" y="2905764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‫גמר ופרסים‬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71252" y="1950721"/>
            <a:ext cx="1002841" cy="12700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8" name="Shape 6"/>
          <p:cNvSpPr/>
          <p:nvPr/>
        </p:nvSpPr>
        <p:spPr>
          <a:xfrm>
            <a:off x="1980777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0114" y="2052321"/>
            <a:ext cx="8323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40114" y="2905764"/>
            <a:ext cx="8323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‫יריד‬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4093" y="1950721"/>
            <a:ext cx="1089660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2" name="Shape 10"/>
          <p:cNvSpPr/>
          <p:nvPr/>
        </p:nvSpPr>
        <p:spPr>
          <a:xfrm>
            <a:off x="2983618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2955" y="2052321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42955" y="2905764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3‬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3753" y="1950721"/>
            <a:ext cx="1958093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073278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1310" y="2052321"/>
            <a:ext cx="1788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31310" y="2905764"/>
            <a:ext cx="1788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2‬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21846" y="1950721"/>
            <a:ext cx="1089660" cy="12700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137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0708" y="2052321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0708" y="2905764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1506" y="1950721"/>
            <a:ext cx="2218619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12103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1248" y="2052321"/>
            <a:ext cx="2057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1248" y="2905764"/>
            <a:ext cx="2057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1‬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30126" y="1950721"/>
            <a:ext cx="1176514" cy="12700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3965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988" y="2052321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98988" y="2692400"/>
            <a:ext cx="100605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‫פתיחה + Claude‬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06640" y="1950721"/>
            <a:ext cx="872561" cy="1270000"/>
          </a:xfrm>
          <a:custGeom>
            <a:avLst/>
            <a:gdLst/>
            <a:ahLst/>
            <a:cxnLst/>
            <a:rect l="l" t="t" r="r" b="b"/>
            <a:pathLst>
              <a:path w="872561" h="1270000">
                <a:moveTo>
                  <a:pt x="770961" y="0"/>
                </a:moveTo>
                <a:arcTo hR="101600" wR="101600" stAng="16200000" swAng="5400000"/>
                <a:lnTo>
                  <a:pt x="872561" y="1168400"/>
                </a:lnTo>
                <a:arcTo hR="101600" wR="101600" stAng="0" swAng="5400000"/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8D92A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06640" y="1950721"/>
            <a:ext cx="872561" cy="1270000"/>
          </a:xfrm>
          <a:custGeom>
            <a:avLst/>
            <a:gdLst/>
            <a:ahLst/>
            <a:cxnLst/>
            <a:rect l="l" t="t" r="r" b="b"/>
            <a:pathLst>
              <a:path w="872561" h="1270000">
                <a:moveTo>
                  <a:pt x="0" y="0"/>
                </a:moveTo>
                <a:lnTo>
                  <a:pt x="19050" y="0"/>
                </a:lnTo>
                <a:lnTo>
                  <a:pt x="1905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5502" y="2052321"/>
            <a:ext cx="702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75502" y="2905764"/>
            <a:ext cx="702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‫קפה‬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975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3439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‫Code Freeze 16:45‬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3439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‫טופס הגשה + וידאו גיבוי של 60 שניות‬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88908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76372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‫בדיקת היקף 12:30‬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76372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ראש צוות מאשר MVP מול מנטור‬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961842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9305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‫כ-5 שעות פיתוח נטו‬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49305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‫שלושה ספרינטים, קליניקת Claude פתוחה‬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‫לוח הזמנים — גרסת יומיים (מומלץ)‬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‫פי 2 זמן פיתוח, בלי לינה‬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95808" y="189992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א'‬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25042"/>
            <a:ext cx="1200891" cy="952500"/>
          </a:xfrm>
          <a:custGeom>
            <a:avLst/>
            <a:gdLst/>
            <a:ahLst/>
            <a:cxnLst/>
            <a:rect l="l" t="t" r="r" b="b"/>
            <a:pathLst>
              <a:path w="1200891" h="952500">
                <a:moveTo>
                  <a:pt x="0" y="101600"/>
                </a:moveTo>
                <a:arcTo hR="101600" wR="101600" stAng="10800000" swAng="5400000"/>
                <a:lnTo>
                  <a:pt x="1200891" y="0"/>
                </a:lnTo>
                <a:lnTo>
                  <a:pt x="1200891" y="952500"/>
                </a:lnTo>
                <a:lnTo>
                  <a:pt x="101600" y="952500"/>
                </a:lnTo>
                <a:arcTo hR="101600" wR="101600" stAng="5400000" swAng="5400000"/>
                <a:close/>
              </a:path>
            </a:pathLst>
          </a:custGeom>
          <a:solidFill>
            <a:srgbClr val="8A7FE0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2326642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600" y="2862585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‫סטנדאפ‬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3691" y="2225042"/>
            <a:ext cx="4212061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9" name="Shape 7"/>
          <p:cNvSpPr/>
          <p:nvPr/>
        </p:nvSpPr>
        <p:spPr>
          <a:xfrm>
            <a:off x="2023216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3629" y="2326642"/>
            <a:ext cx="41105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3629" y="2862585"/>
            <a:ext cx="41105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2 · בדיקת היקף ב-15:30‬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5752" y="2225042"/>
            <a:ext cx="1218953" cy="9525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5277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4614" y="2326642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4614" y="2862585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44705" y="2225042"/>
            <a:ext cx="2515976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4230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5526" y="2326642"/>
            <a:ext cx="23635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5526" y="2862585"/>
            <a:ext cx="23635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1‬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60681" y="2225042"/>
            <a:ext cx="1418520" cy="952500"/>
          </a:xfrm>
          <a:custGeom>
            <a:avLst/>
            <a:gdLst/>
            <a:ahLst/>
            <a:cxnLst/>
            <a:rect l="l" t="t" r="r" b="b"/>
            <a:pathLst>
              <a:path w="1418520" h="952500">
                <a:moveTo>
                  <a:pt x="1316920" y="0"/>
                </a:moveTo>
                <a:arcTo hR="101600" wR="101600" stAng="16200000" swAng="5400000"/>
                <a:lnTo>
                  <a:pt x="1418520" y="850900"/>
                </a:lnTo>
                <a:arcTo hR="101600" wR="101600" stAng="0" swAng="5400000"/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0681" y="2225042"/>
            <a:ext cx="1418520" cy="952500"/>
          </a:xfrm>
          <a:custGeom>
            <a:avLst/>
            <a:gdLst/>
            <a:ahLst/>
            <a:cxnLst/>
            <a:rect l="l" t="t" r="r" b="b"/>
            <a:pathLst>
              <a:path w="1418520" h="952500">
                <a:moveTo>
                  <a:pt x="0" y="0"/>
                </a:moveTo>
                <a:lnTo>
                  <a:pt x="19050" y="0"/>
                </a:lnTo>
                <a:lnTo>
                  <a:pt x="190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29543" y="2326642"/>
            <a:ext cx="1248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29543" y="2862585"/>
            <a:ext cx="1248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‫פתיחה + Claude‬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808" y="34315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ב'‬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" y="3756664"/>
            <a:ext cx="1015400" cy="952500"/>
          </a:xfrm>
          <a:custGeom>
            <a:avLst/>
            <a:gdLst/>
            <a:ahLst/>
            <a:cxnLst/>
            <a:rect l="l" t="t" r="r" b="b"/>
            <a:pathLst>
              <a:path w="1015400" h="952500">
                <a:moveTo>
                  <a:pt x="0" y="101600"/>
                </a:moveTo>
                <a:arcTo hR="101600" wR="101600" stAng="10800000" swAng="5400000"/>
                <a:lnTo>
                  <a:pt x="1015400" y="0"/>
                </a:lnTo>
                <a:lnTo>
                  <a:pt x="1015400" y="952500"/>
                </a:lnTo>
                <a:lnTo>
                  <a:pt x="101600" y="952500"/>
                </a:lnTo>
                <a:arcTo hR="101600" wR="101600" stAng="5400000" swAng="5400000"/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" y="3858264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3600" y="4394200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‫פרסים‬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200" y="3756664"/>
            <a:ext cx="1134957" cy="9525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37725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97063" y="3858264"/>
            <a:ext cx="9644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97063" y="4394200"/>
            <a:ext cx="9644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‫גמר‬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63157" y="3756664"/>
            <a:ext cx="1338016" cy="9525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2682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2019" y="3858264"/>
            <a:ext cx="11675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32019" y="4394200"/>
            <a:ext cx="11675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‫יריד‬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01173" y="3756664"/>
            <a:ext cx="1134992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37" name="Shape 35"/>
          <p:cNvSpPr/>
          <p:nvPr/>
        </p:nvSpPr>
        <p:spPr>
          <a:xfrm>
            <a:off x="4310698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035" y="3858264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13:45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70035" y="4394200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‫ליטוש‬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36165" y="3756664"/>
            <a:ext cx="1134992" cy="9525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41" name="Shape 39"/>
          <p:cNvSpPr/>
          <p:nvPr/>
        </p:nvSpPr>
        <p:spPr>
          <a:xfrm>
            <a:off x="5445690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5027" y="3858264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05027" y="4394200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71156" y="3756664"/>
            <a:ext cx="3774581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45" name="Shape 43"/>
          <p:cNvSpPr/>
          <p:nvPr/>
        </p:nvSpPr>
        <p:spPr>
          <a:xfrm>
            <a:off x="6580681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4219" y="3858264"/>
            <a:ext cx="3659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4219" y="4394200"/>
            <a:ext cx="3659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3‬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345738" y="3756664"/>
            <a:ext cx="1033462" cy="952500"/>
          </a:xfrm>
          <a:custGeom>
            <a:avLst/>
            <a:gdLst/>
            <a:ahLst/>
            <a:cxnLst/>
            <a:rect l="l" t="t" r="r" b="b"/>
            <a:pathLst>
              <a:path w="1033462" h="952500">
                <a:moveTo>
                  <a:pt x="931863" y="0"/>
                </a:moveTo>
                <a:arcTo hR="101600" wR="101600" stAng="16200000" swAng="5400000"/>
                <a:lnTo>
                  <a:pt x="1033462" y="850900"/>
                </a:lnTo>
                <a:arcTo hR="101600" wR="101600" stAng="0" swAng="5400000"/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8A7FE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345738" y="3756664"/>
            <a:ext cx="1033462" cy="952500"/>
          </a:xfrm>
          <a:custGeom>
            <a:avLst/>
            <a:gdLst/>
            <a:ahLst/>
            <a:cxnLst/>
            <a:rect l="l" t="t" r="r" b="b"/>
            <a:pathLst>
              <a:path w="1033462" h="952500">
                <a:moveTo>
                  <a:pt x="0" y="0"/>
                </a:moveTo>
                <a:lnTo>
                  <a:pt x="19050" y="0"/>
                </a:lnTo>
                <a:lnTo>
                  <a:pt x="190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50" name="Text 48"/>
          <p:cNvSpPr/>
          <p:nvPr/>
        </p:nvSpPr>
        <p:spPr>
          <a:xfrm>
            <a:off x="10414600" y="3858264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414600" y="4394200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‫סטנדאפ‬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5808" y="496316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‫כ-10.5 שעות פיתוח נטו · Code Freeze ב-14:30 ביום ב' · גמר של 8 צוותים‬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‫הבמה והתצוגה‬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‫יריד לכולם, במה למובילים‬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01521"/>
            <a:ext cx="5181600" cy="4043680"/>
          </a:xfrm>
          <a:prstGeom prst="roundRect">
            <a:avLst>
              <a:gd name="adj" fmla="val 3141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56564" y="2291085"/>
            <a:ext cx="81381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‫הגמר‬</a:t>
            </a:r>
            <a:endParaRPr lang="en-US" sz="2200" dirty="0"/>
          </a:p>
        </p:txBody>
      </p:sp>
      <p:pic>
        <p:nvPicPr>
          <p:cNvPr id="6" name="Image 0" descr="St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71980" y="228092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3516" y="2763521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‫6–8 פיינליסטים, 4 דקות דמו + דקה שאלות.‬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3516" y="3139442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‫החדר הגדול במשרד, מקרן קיים, מחשב במה אחד, שידור ב-Teams/Zoom למי שלא בחדר.‬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3516" y="3764285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‫מנחה אחד ששומר על הזמנים, תורן צילום עם טלפון.‬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7600" y="2001521"/>
            <a:ext cx="5181600" cy="4043680"/>
          </a:xfrm>
          <a:prstGeom prst="roundRect">
            <a:avLst>
              <a:gd name="adj" fmla="val 3141"/>
            </a:avLst>
          </a:prstGeom>
          <a:solidFill>
            <a:srgbClr val="2E2280"/>
          </a:solidFill>
          <a:ln/>
        </p:spPr>
      </p:sp>
      <p:sp>
        <p:nvSpPr>
          <p:cNvPr id="11" name="Text 8"/>
          <p:cNvSpPr/>
          <p:nvPr/>
        </p:nvSpPr>
        <p:spPr>
          <a:xfrm>
            <a:off x="6197600" y="2291085"/>
            <a:ext cx="194751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‫יריד הדמואים‬</a:t>
            </a:r>
            <a:endParaRPr lang="en-US" sz="2200" dirty="0"/>
          </a:p>
        </p:txBody>
      </p:sp>
      <p:pic>
        <p:nvPicPr>
          <p:cNvPr id="12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46710" y="2280921"/>
            <a:ext cx="355600" cy="355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38316" y="2763521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צוות מציג בעמדה או בחדר שלו, עם שלט מודפס ו-QR להצבעה.‬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338316" y="3388364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שופט מבקר 6–8 עמדות, 5 דקות לעמדה. כל צוות נשפט ע"י 2 שופטים לפחות.‬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38316" y="4013200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‫צוותי חומרה מציגים במעבדה עצמה.‬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‫שיפוט ופרסים‬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‫השפעה קודם, ואז ביצוע‬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702"/>
            <a:ext cx="4872884" cy="4037330"/>
          </a:xfrm>
          <a:prstGeom prst="roundRect">
            <a:avLst>
              <a:gd name="adj" fmla="val 2438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0450" y="2260042"/>
            <a:ext cx="44930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‫7 קטגוריות פרסים‬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0450" y="2623257"/>
            <a:ext cx="449306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‫הזוכה הכללי · משכך הכאבים · פרס המוצר · גיבור החומרה · פרס האלגוריתם · פרס Claude · פרס הקהל‬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316" y="5070413"/>
            <a:ext cx="4362203" cy="716280"/>
          </a:xfrm>
          <a:prstGeom prst="roundRect">
            <a:avLst>
              <a:gd name="adj" fmla="val 10638"/>
            </a:avLst>
          </a:prstGeom>
          <a:solidFill>
            <a:srgbClr val="FDE7DA"/>
          </a:solidFill>
          <a:ln/>
        </p:spPr>
        <p:txBody>
          <a:bodyPr wrap="square" lIns="8360" tIns="104682" rIns="130082" bIns="79282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</a:t>
            </a:r>
            <a:r>
              <a:rPr lang="en-US" sz="13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פרסים בלי כסף:</a:t>
            </a: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שבועיים של זמן מוקדש, הצגה בפורום הנהלה, גביע מודפס בתלת-ממד, קיר התהילה.‬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47634" y="20078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46134" y="2001527"/>
            <a:ext cx="2857500" cy="279400"/>
          </a:xfrm>
          <a:prstGeom prst="roundRect">
            <a:avLst>
              <a:gd name="adj" fmla="val 18182"/>
            </a:avLst>
          </a:prstGeom>
          <a:solidFill>
            <a:srgbClr val="F06418"/>
          </a:solidFill>
          <a:ln/>
        </p:spPr>
      </p:sp>
      <p:sp>
        <p:nvSpPr>
          <p:cNvPr id="10" name="Text 8"/>
          <p:cNvSpPr/>
          <p:nvPr/>
        </p:nvSpPr>
        <p:spPr>
          <a:xfrm>
            <a:off x="9417050" y="20078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‫השפעה‬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47634" y="24142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46134" y="2407927"/>
            <a:ext cx="190500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3" name="Text 11"/>
          <p:cNvSpPr/>
          <p:nvPr/>
        </p:nvSpPr>
        <p:spPr>
          <a:xfrm>
            <a:off x="9417050" y="24142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‫ביצוע ודמו‬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47634" y="28206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46134" y="2814327"/>
            <a:ext cx="190500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6" name="Text 14"/>
          <p:cNvSpPr/>
          <p:nvPr/>
        </p:nvSpPr>
        <p:spPr>
          <a:xfrm>
            <a:off x="9417050" y="28206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‫ישימות והמשכיות‬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47634" y="32270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46134" y="3220727"/>
            <a:ext cx="142875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9" name="Text 17"/>
          <p:cNvSpPr/>
          <p:nvPr/>
        </p:nvSpPr>
        <p:spPr>
          <a:xfrm>
            <a:off x="9417050" y="32270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‫חדשנות ו-AI‬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47634" y="36334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46134" y="3627127"/>
            <a:ext cx="142875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22" name="Text 20"/>
          <p:cNvSpPr/>
          <p:nvPr/>
        </p:nvSpPr>
        <p:spPr>
          <a:xfrm>
            <a:off x="9417050" y="36334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‫שיתוף פעולה‬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87687" y="4033527"/>
            <a:ext cx="549151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‫ניקוד 1–5 לכל קריטריון. מנהל לא שופט צוות שחבר שלו בתוכו.‬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‫לוגיסטיקה בעלות אפס‬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‫עם מה שכבר יש לנו‬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7"/>
            <a:ext cx="4688099" cy="4094480"/>
          </a:xfrm>
          <a:prstGeom prst="roundRect">
            <a:avLst>
              <a:gd name="adj" fmla="val 2481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41397" y="2204727"/>
            <a:ext cx="43055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‫עלות נוספת‬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397" y="2537458"/>
            <a:ext cx="430550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3401058"/>
            <a:ext cx="44340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‫Claude כבר במנוי. הזמן של העובדים הוא ההשקעה האמיתית.‬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5110485"/>
            <a:ext cx="4180099" cy="680720"/>
          </a:xfrm>
          <a:prstGeom prst="roundRect">
            <a:avLst>
              <a:gd name="adj" fmla="val 111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104682" rIns="104682" bIns="79282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‫אם אפשר להשיג סכום קטן מתקציב קיים: קודם אוכל, אחר כך פרס סמלי.‬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8874" y="1953902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0333" y="2107642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‫ציוד‬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90333" y="2374342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‫מחשבים, מסכים ומפצלים קיימים — נאספים לעמדת Help Desk‬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59107" y="1953902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0564" y="2107642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‫מקום‬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40564" y="2374342"/>
            <a:ext cx="2481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‫המשרד: חדר גדול לפתיחה וגמר, חדרי ישיבות משוריינים לצוותים‬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8874" y="3361060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0333" y="3514799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‫מיתוג‬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90333" y="3781499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‫לוגו ושלטים ש-Claude מעצב, במדפסת המשרד‬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59107" y="3361060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0564" y="3514799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‫אוכל‬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40564" y="3781499"/>
            <a:ext cx="2481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‫צהריים כרגיל, פינת קפה, "תביאו מהבית" כרשות‬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8874" y="4768217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0333" y="4921957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‫שידור וצילום‬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0333" y="5188657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‫Teams/Zoom לגמר, תורן צילום עם טלפון‬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59107" y="4768217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0564" y="4921957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‫הצבעה ושיפוט‬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40564" y="5188657"/>
            <a:ext cx="2481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‫טופס דיגיטלי + QR בכל עמדה‬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‫אחרי ההאקטון‬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‫Hack to Prod: מה הופך יום למנוע שינוי‬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716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‫90 יום‬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9716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‫דו"ח השפעה: כלים, זמן שנחסך, מוצר‬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1534" y="2004702"/>
            <a:ext cx="1986844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5275" y="2209242"/>
            <a:ext cx="16285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‫30 יום‬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15275" y="2653742"/>
            <a:ext cx="162856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‫עדכון בפורום: מה נכנס לשימוש‬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03954" y="2001527"/>
            <a:ext cx="1984128" cy="3439160"/>
          </a:xfrm>
          <a:prstGeom prst="roundRect">
            <a:avLst>
              <a:gd name="adj" fmla="val 5121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5256354" y="2204727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‫שבועיים‬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6354" y="2649227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‫3 הזוכים מתחילים שבועיים של זמן מוקדש‬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3657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397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‫שבוע‬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97397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‫קטלוג פרויקטים + ספריית מתכוני Claude‬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89216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2956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42956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‫סקר משוב, תודה, סרטון סיכום‬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808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פרויקט שלא זכה מקבל החלטה ברורה: ממשיכים, נכנס ל-backlog או נגנז בכבוד — אף אחד לא עובד לשווא.‬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‫סיכונים‬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 יכול להשתבש, ומה עושים‬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7"/>
            <a:ext cx="10566400" cy="2879796"/>
          </a:xfrm>
          <a:custGeom>
            <a:avLst/>
            <a:gdLst/>
            <a:ahLst/>
            <a:cxnLst/>
            <a:rect l="l" t="t" r="r" b="b"/>
            <a:pathLst>
              <a:path w="10566400" h="2879796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803596"/>
                </a:lnTo>
                <a:arcTo hR="76200" wR="76200" stAng="0" swAng="5400000"/>
                <a:lnTo>
                  <a:pt x="76200" y="2879796"/>
                </a:lnTo>
                <a:arcTo hR="76200" wR="76200" stAng="5400000" swAng="5400000"/>
                <a:lnTo>
                  <a:pt x="0" y="2803596"/>
                </a:lnTo>
                <a:arcTo hR="69850" wR="76200" stAng="10800000" swAng="-5400000"/>
                <a:lnTo>
                  <a:pt x="10490200" y="2873446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7"/>
            <a:ext cx="10566400" cy="2879796"/>
          </a:xfrm>
          <a:custGeom>
            <a:avLst/>
            <a:gdLst/>
            <a:ahLst/>
            <a:cxnLst/>
            <a:rect l="l" t="t" r="r" b="b"/>
            <a:pathLst>
              <a:path w="10566400" h="2879796">
                <a:moveTo>
                  <a:pt x="76200" y="2879796"/>
                </a:moveTo>
                <a:lnTo>
                  <a:pt x="76200" y="2879796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803596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6"/>
          <a:ext cx="10550596" cy="2863991"/>
        </p:xfrm>
        <a:graphic>
          <a:graphicData uri="http://schemas.openxmlformats.org/drawingml/2006/table">
            <a:tbl>
              <a:tblPr/>
              <a:tblGrid>
                <a:gridCol w="5064286"/>
                <a:gridCol w="1477083"/>
                <a:gridCol w="4009226"/>
              </a:tblGrid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‫מענה‬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‫השפעה‬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‫סיכון‬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‫בדיקת היקף באמצע, MVP כבר בקנבס‬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‫גבוהה‬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‫צוותים שאפתניים מדי, אין דמו‬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‫בדיקת גישות שבועיים לפני, Help Desk ביום‬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‫גבוהה‬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‫"אין לי גישה" — לסביבות או ל-Claude‬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‫כללים כתובים מראש, נתונים מאושרים מוכנים‬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‫גבוהה‬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‫נתונים רגישים מוכנסים ל-Claude‬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‫זמן מוקדש לזוכים, דו"ח 90 יום‬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‫גבוהה‬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‫שום דבר לא ממשיך אחרי היום‬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‫לבדוק את תנאי המנוי, לפזר עבודה בצוות‬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‫מגבלות שימוש ב-Claude ביום עמוס‬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‫פינת קפה, "תביאו מהבית", לנסות כיבוד קטן‬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‫אנרגיה נמוכה בלי אוכל‬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‫code review אנושי לפני כל מיזוג‬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‫קוד מ-AI שלא נבדק נכנס לשימוש‬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450"/>
              </a:gs>
              <a:gs pos="60000">
                <a:srgbClr val="2E2280"/>
              </a:gs>
              <a:gs pos="100000">
                <a:srgbClr val="4B3BC4"/>
              </a:gs>
            </a:gsLst>
            <a:lin ang="36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495808" y="1444563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‫הצעדים הבאים‬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495808" y="1769678"/>
            <a:ext cx="1088339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 מחליטים השבוע‬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1597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465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84655" y="3704592"/>
            <a:ext cx="21032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‫צוות מארגן של 5 ושליחת סקר הכאבים‬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0202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070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70705" y="3704592"/>
            <a:ext cx="21032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‫בדיקת גישה ל-Claude לכולם ומדיניות מידע‬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807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675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6755" y="3704592"/>
            <a:ext cx="21032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‫מחויבות הנהלה: אין ישיבות ביום + Hack to Prod לזוכים‬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7412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280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42805" y="3704592"/>
            <a:ext cx="2103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אחד או יומיים, ותאריך‬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808" y="5093407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‫מצא את הכאב — בנה את התרופה — הראה שהיא עובדת.‬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יום האקטון — תוכנית">
  <a:themeElements>
    <a:clrScheme name="יום האקטון — תוכנית">
      <a:dk1>
        <a:srgbClr val="1B1450"/>
      </a:dk1>
      <a:lt1>
        <a:srgbClr val="F7F6FC"/>
      </a:lt1>
      <a:dk2>
        <a:srgbClr val="524D7B"/>
      </a:dk2>
      <a:lt2>
        <a:srgbClr val="E1DFEB"/>
      </a:lt2>
      <a:accent1>
        <a:srgbClr val="4B3BC4"/>
      </a:accent1>
      <a:accent2>
        <a:srgbClr val="C24E0C"/>
      </a:accent2>
      <a:accent3>
        <a:srgbClr val="2E2280"/>
      </a:accent3>
      <a:accent4>
        <a:srgbClr val="F58A4E"/>
      </a:accent4>
      <a:accent5>
        <a:srgbClr val="C9C4F2"/>
      </a:accent5>
      <a:accent6>
        <a:srgbClr val="F06418"/>
      </a:accent6>
      <a:hlink>
        <a:srgbClr val="0563C1"/>
      </a:hlink>
      <a:folHlink>
        <a:srgbClr val="954F72"/>
      </a:folHlink>
    </a:clrScheme>
    <a:fontScheme name="יום האקטון — תוכנית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יום האקטון — תוכנית</dc:title>
  <dc:subject/>
  <dc:creator/>
  <cp:lastModifiedBy/>
  <cp:revision>1</cp:revision>
  <dcterms:created xsi:type="dcterms:W3CDTF">2026-10-08T13:08:06Z</dcterms:created>
  <dcterms:modified xsi:type="dcterms:W3CDTF">2026-10-08T13:08:06Z</dcterms:modified>
</cp:coreProperties>
</file>